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notesMasterIdLst>
    <p:notesMasterId r:id="rId14"/>
  </p:notesMasterIdLst>
  <p:handoutMasterIdLst>
    <p:handoutMasterId r:id="rId15"/>
  </p:handoutMasterIdLst>
  <p:sldIdLst>
    <p:sldId id="377" r:id="rId2"/>
    <p:sldId id="433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</p:sldIdLst>
  <p:sldSz cx="9144000" cy="6858000" type="screen4x3"/>
  <p:notesSz cx="6662738" cy="9820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3">
          <p15:clr>
            <a:srgbClr val="A4A3A4"/>
          </p15:clr>
        </p15:guide>
        <p15:guide id="2" pos="20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897"/>
    <a:srgbClr val="2F3A97"/>
    <a:srgbClr val="6B7E36"/>
    <a:srgbClr val="72863A"/>
    <a:srgbClr val="5B4733"/>
    <a:srgbClr val="935211"/>
    <a:srgbClr val="403224"/>
    <a:srgbClr val="4F2C09"/>
    <a:srgbClr val="4C3B2A"/>
    <a:srgbClr val="3E3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34" autoAdjust="0"/>
  </p:normalViewPr>
  <p:slideViewPr>
    <p:cSldViewPr>
      <p:cViewPr varScale="1">
        <p:scale>
          <a:sx n="69" d="100"/>
          <a:sy n="69" d="100"/>
        </p:scale>
        <p:origin x="12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12" d="100"/>
          <a:sy n="112" d="100"/>
        </p:scale>
        <p:origin x="-582" y="780"/>
      </p:cViewPr>
      <p:guideLst>
        <p:guide orient="horz" pos="3093"/>
        <p:guide pos="20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24050" y="0"/>
            <a:ext cx="2887663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i="1"/>
            </a:lvl1pPr>
          </a:lstStyle>
          <a:p>
            <a:pPr>
              <a:defRPr/>
            </a:pPr>
            <a:r>
              <a:rPr lang="en-GB"/>
              <a:t>Introductory Econometrics for Finance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9738"/>
            <a:ext cx="2887663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GB"/>
              <a:t>Copyright 2013 by Chris Brooks</a:t>
            </a:r>
          </a:p>
        </p:txBody>
      </p:sp>
    </p:spTree>
    <p:extLst>
      <p:ext uri="{BB962C8B-B14F-4D97-AF65-F5344CB8AC3E}">
        <p14:creationId xmlns:p14="http://schemas.microsoft.com/office/powerpoint/2010/main" val="16227720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GB"/>
              <a:t>Introductory Econometrics for Finance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5075" y="0"/>
            <a:ext cx="2887663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6600"/>
            <a:ext cx="4910137" cy="368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64075"/>
            <a:ext cx="488473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29738"/>
            <a:ext cx="2887663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GB"/>
              <a:t>Copyright 2002, Chris Brooks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5075" y="9329738"/>
            <a:ext cx="2887663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0085165-6639-4198-914C-59CAFD6E3FA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9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35620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937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047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64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161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709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04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75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778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15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25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48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5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D8FB7-E2A8-4CFA-916F-CB194BED227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8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090B-D6CC-4F3A-8674-8A9375FD238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32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66D4-B89D-483E-B895-725C6E25BB3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108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‘Introductory Econometrics for Finance’ © Chris Brooks 2013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Cloud Computing; Sandeep Bhowmik @ Cambridge University Press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7350-514F-4BF3-923C-710A5815CED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10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F0F8-2A6C-4F57-9934-60A929A0297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213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715F3-36AB-461A-9708-602DE691A1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38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2294-BDCD-4C6E-A088-7ED765F9FF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10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3828-60B6-4956-AA4F-692DA50EA12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1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96D8-A781-4EEC-B5E2-F3EFCDCFFA5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5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8C7B2-AB38-4225-8211-FAB1ADE13BF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7896" y="0"/>
            <a:ext cx="936104" cy="1225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2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‘Introductory Econometrics for Finance’ © Chris Brooks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 Cloud Computing; Sandeep Bhowmik @ Cambridge University Press 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D52B6-7FE4-49C1-96CA-FB2EFFF03F1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04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9592" y="3140968"/>
            <a:ext cx="7772400" cy="64807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en-US" sz="2400" b="1" dirty="0" smtClean="0">
                <a:latin typeface="Times New Roman" pitchFamily="18" charset="0"/>
              </a:rPr>
              <a:t>Chapter </a:t>
            </a:r>
            <a:r>
              <a:rPr lang="en-US" altLang="en-US" sz="2400" b="1" dirty="0">
                <a:latin typeface="Times New Roman" pitchFamily="18" charset="0"/>
              </a:rPr>
              <a:t>1</a:t>
            </a:r>
            <a:endParaRPr lang="en-US" altLang="en-US" sz="2400" dirty="0" smtClean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5656" y="4365104"/>
            <a:ext cx="6624736" cy="792088"/>
          </a:xfrm>
        </p:spPr>
        <p:txBody>
          <a:bodyPr rtlCol="0">
            <a:norm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en-US" altLang="en-US" sz="3600" dirty="0">
                <a:latin typeface="Times New Roman" pitchFamily="18" charset="0"/>
              </a:rPr>
              <a:t>Introduction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323528" y="4529541"/>
            <a:ext cx="684784" cy="365125"/>
          </a:xfrm>
        </p:spPr>
        <p:txBody>
          <a:bodyPr/>
          <a:lstStyle/>
          <a:p>
            <a:endParaRPr lang="en-US" sz="11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383817" y="542228"/>
            <a:ext cx="6832104" cy="582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defRPr/>
            </a:pPr>
            <a:r>
              <a:rPr lang="en-US" sz="3000" b="1" dirty="0" smtClean="0">
                <a:latin typeface="Times New Roman" pitchFamily="18" charset="0"/>
              </a:rPr>
              <a:t>Cloud Computing</a:t>
            </a:r>
            <a:endParaRPr lang="en-US" altLang="en-US" sz="3000" b="1" dirty="0">
              <a:latin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386089" y="1185949"/>
            <a:ext cx="6832104" cy="582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defRPr/>
            </a:pPr>
            <a:r>
              <a:rPr lang="en-US" sz="2000" dirty="0" smtClean="0">
                <a:latin typeface="Times New Roman" pitchFamily="18" charset="0"/>
              </a:rPr>
              <a:t>Sandeep </a:t>
            </a:r>
            <a:r>
              <a:rPr lang="en-US" sz="2000" dirty="0" err="1" smtClean="0">
                <a:latin typeface="Times New Roman" pitchFamily="18" charset="0"/>
              </a:rPr>
              <a:t>Bhowmik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311896" y="6021288"/>
            <a:ext cx="6832104" cy="5825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defRPr/>
            </a:pPr>
            <a:r>
              <a:rPr lang="en-US" dirty="0">
                <a:latin typeface="Times New Roman" pitchFamily="18" charset="0"/>
              </a:rPr>
              <a:t>Cambridge University </a:t>
            </a:r>
            <a:r>
              <a:rPr lang="en-US" dirty="0" smtClean="0">
                <a:latin typeface="Times New Roman" pitchFamily="18" charset="0"/>
              </a:rPr>
              <a:t>Press</a:t>
            </a:r>
            <a:r>
              <a:rPr lang="en-US" sz="2400" dirty="0" smtClean="0">
                <a:latin typeface="Times New Roman" pitchFamily="18" charset="0"/>
              </a:rPr>
              <a:t>	</a:t>
            </a:r>
            <a:endParaRPr lang="en-US" alt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66764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What is the Buzz About?</a:t>
            </a: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579739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anose="02020603050405020304" pitchFamily="18" charset="0"/>
              </a:rPr>
              <a:t>Cloud computing is the next step of accessing web based services through Internet.</a:t>
            </a:r>
          </a:p>
          <a:p>
            <a:pPr algn="just"/>
            <a:endParaRPr lang="en-US" sz="2100" dirty="0">
              <a:latin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</a:rPr>
              <a:t>It provides means for smarter way of doing computing and business.</a:t>
            </a:r>
            <a:endParaRPr lang="en-GB" altLang="en-US" sz="2100" dirty="0">
              <a:latin typeface="Times New Roman" panose="02020603050405020304" pitchFamily="18" charset="0"/>
            </a:endParaRPr>
          </a:p>
          <a:p>
            <a:pPr algn="just"/>
            <a:endParaRPr lang="en-GB" altLang="en-US" sz="2100" dirty="0">
              <a:latin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</a:rPr>
              <a:t>Cloud computing became a hot topic only from mid-2008,</a:t>
            </a:r>
            <a:r>
              <a:rPr lang="en-GB" sz="2100" dirty="0">
                <a:latin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</a:rPr>
              <a:t>but the idea is age old.</a:t>
            </a:r>
          </a:p>
          <a:p>
            <a:pPr algn="just"/>
            <a:endParaRPr lang="en-US" altLang="en-US" sz="2100" dirty="0">
              <a:latin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</a:rPr>
              <a:t>The limitations of the traditional computing approaches make the stage ready for its arrival.</a:t>
            </a:r>
            <a:endParaRPr lang="en-GB" altLang="en-US" sz="2100" dirty="0">
              <a:latin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2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  Chapter 1	Introduction</a:t>
            </a:r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65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Limitations of Traditional Computing Approaches</a:t>
            </a:r>
            <a: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651747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90000"/>
              </a:lnSpc>
              <a:buFontTx/>
              <a:buAutoNum type="arabi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huge initial investment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90000"/>
              </a:lnSpc>
              <a:buFontTx/>
              <a:buAutoNum type="arabicPeriod"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maintenance is the headache of user.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Procures hardware gets outdated periodically.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up-gradation headache.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capacity estimation is a tedious task.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requirement may vary (increase </a:t>
            </a:r>
            <a:r>
              <a:rPr lang="en-US" altLang="en-US" sz="2100" dirty="0">
                <a:latin typeface="Times New Roman" panose="02020603050405020304" pitchFamily="18" charset="0"/>
              </a:rPr>
              <a:t>or decrease) with time.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sz="2100" dirty="0">
                <a:latin typeface="Times New Roman" panose="02020603050405020304" pitchFamily="18" charset="0"/>
              </a:rPr>
              <a:t>Resource addition/alteration needs complete system shutdown.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sz="2100" dirty="0">
                <a:latin typeface="Times New Roman" panose="02020603050405020304" pitchFamily="18" charset="0"/>
              </a:rPr>
              <a:t>Less resource utilization results in reduced ROI.</a:t>
            </a:r>
          </a:p>
          <a:p>
            <a:pPr marL="457200" indent="-457200" algn="just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sz="2100" dirty="0">
                <a:latin typeface="Times New Roman" panose="02020603050405020304" pitchFamily="18" charset="0"/>
              </a:rPr>
              <a:t>For computing, u</a:t>
            </a:r>
            <a:r>
              <a:rPr lang="en-US" sz="2100" dirty="0">
                <a:latin typeface="Times New Roman" panose="02020603050405020304" pitchFamily="18" charset="0"/>
              </a:rPr>
              <a:t>sers generally need to have physical access to the system.</a:t>
            </a:r>
            <a:endParaRPr lang="en-US" altLang="en-US" sz="2100" dirty="0">
              <a:latin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3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30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Three Layers of Computing</a:t>
            </a:r>
            <a:r>
              <a:rPr lang="en-GB" altLang="en-US" sz="26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altLang="en-US" sz="3200" b="1" dirty="0">
                <a:solidFill>
                  <a:schemeClr val="tx1"/>
                </a:solidFill>
                <a:latin typeface="Times New Roman" pitchFamily="18" charset="0"/>
              </a:rPr>
              <a:t/>
            </a:r>
            <a:br>
              <a:rPr lang="en-GB" altLang="en-US" sz="3200" b="1" dirty="0">
                <a:solidFill>
                  <a:schemeClr val="tx1"/>
                </a:solidFill>
                <a:latin typeface="Times New Roman" pitchFamily="18" charset="0"/>
              </a:rPr>
            </a:br>
            <a:endParaRPr lang="en-US" altLang="en-US" sz="2300" b="1" dirty="0">
              <a:solidFill>
                <a:schemeClr val="tx2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 lvl="0">
              <a:buFont typeface="Courier New" panose="02070309020205020404" pitchFamily="49" charset="0"/>
              <a:buChar char="o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4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275857" y="3484805"/>
            <a:ext cx="1944216" cy="1744396"/>
            <a:chOff x="0" y="0"/>
            <a:chExt cx="1504950" cy="1133475"/>
          </a:xfrm>
        </p:grpSpPr>
        <p:sp>
          <p:nvSpPr>
            <p:cNvPr id="9" name="AutoShape 2"/>
            <p:cNvSpPr>
              <a:spLocks noChangeArrowheads="1"/>
            </p:cNvSpPr>
            <p:nvPr/>
          </p:nvSpPr>
          <p:spPr bwMode="auto">
            <a:xfrm>
              <a:off x="0" y="381000"/>
              <a:ext cx="1504950" cy="381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142875" y="485775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Platform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utoShape 5"/>
            <p:cNvSpPr>
              <a:spLocks noChangeArrowheads="1"/>
            </p:cNvSpPr>
            <p:nvPr/>
          </p:nvSpPr>
          <p:spPr bwMode="auto">
            <a:xfrm>
              <a:off x="0" y="0"/>
              <a:ext cx="1504950" cy="381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142875" y="85725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 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utoShape 7"/>
            <p:cNvSpPr>
              <a:spLocks noChangeArrowheads="1"/>
            </p:cNvSpPr>
            <p:nvPr/>
          </p:nvSpPr>
          <p:spPr bwMode="auto">
            <a:xfrm>
              <a:off x="0" y="752475"/>
              <a:ext cx="1504950" cy="381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142875" y="866775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Infrastructure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89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Users of three different computing layers</a:t>
            </a:r>
            <a:r>
              <a:rPr lang="en-GB" altLang="en-US" sz="2800" b="1" dirty="0">
                <a:solidFill>
                  <a:srgbClr val="2F5897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800" b="1" dirty="0">
                <a:solidFill>
                  <a:srgbClr val="2F5897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 lvl="0">
              <a:buFont typeface="Courier New" panose="02070309020205020404" pitchFamily="49" charset="0"/>
              <a:buChar char="o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5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979712" y="2809459"/>
            <a:ext cx="6264696" cy="2235686"/>
            <a:chOff x="0" y="0"/>
            <a:chExt cx="3876675" cy="1303020"/>
          </a:xfrm>
        </p:grpSpPr>
        <p:sp>
          <p:nvSpPr>
            <p:cNvPr id="31" name="AutoShape 180"/>
            <p:cNvSpPr>
              <a:spLocks noChangeArrowheads="1"/>
            </p:cNvSpPr>
            <p:nvPr/>
          </p:nvSpPr>
          <p:spPr bwMode="auto">
            <a:xfrm>
              <a:off x="0" y="438150"/>
              <a:ext cx="1504950" cy="42989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2" name="Text Box 181"/>
            <p:cNvSpPr txBox="1">
              <a:spLocks noChangeArrowheads="1"/>
            </p:cNvSpPr>
            <p:nvPr/>
          </p:nvSpPr>
          <p:spPr bwMode="auto">
            <a:xfrm>
              <a:off x="104775" y="600075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Platform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AutoShape 182"/>
            <p:cNvSpPr>
              <a:spLocks noChangeArrowheads="1"/>
            </p:cNvSpPr>
            <p:nvPr/>
          </p:nvSpPr>
          <p:spPr bwMode="auto">
            <a:xfrm>
              <a:off x="0" y="0"/>
              <a:ext cx="1504950" cy="42989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4" name="Text Box 183"/>
            <p:cNvSpPr txBox="1">
              <a:spLocks noChangeArrowheads="1"/>
            </p:cNvSpPr>
            <p:nvPr/>
          </p:nvSpPr>
          <p:spPr bwMode="auto">
            <a:xfrm>
              <a:off x="104775" y="133350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 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184"/>
            <p:cNvSpPr>
              <a:spLocks noChangeArrowheads="1"/>
            </p:cNvSpPr>
            <p:nvPr/>
          </p:nvSpPr>
          <p:spPr bwMode="auto">
            <a:xfrm>
              <a:off x="0" y="876300"/>
              <a:ext cx="1504950" cy="4267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6" name="Text Box 185"/>
            <p:cNvSpPr txBox="1">
              <a:spLocks noChangeArrowheads="1"/>
            </p:cNvSpPr>
            <p:nvPr/>
          </p:nvSpPr>
          <p:spPr bwMode="auto">
            <a:xfrm>
              <a:off x="114300" y="1019175"/>
              <a:ext cx="126809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Infrastructure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186"/>
            <p:cNvSpPr txBox="1">
              <a:spLocks noChangeArrowheads="1"/>
            </p:cNvSpPr>
            <p:nvPr/>
          </p:nvSpPr>
          <p:spPr bwMode="auto">
            <a:xfrm>
              <a:off x="2076450" y="533400"/>
              <a:ext cx="164782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 Developers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187"/>
            <p:cNvSpPr txBox="1">
              <a:spLocks noChangeArrowheads="1"/>
            </p:cNvSpPr>
            <p:nvPr/>
          </p:nvSpPr>
          <p:spPr bwMode="auto">
            <a:xfrm>
              <a:off x="2076450" y="1009650"/>
              <a:ext cx="180022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228600" marR="0" indent="-22860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System &amp; Network Architects Interface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88"/>
            <p:cNvSpPr txBox="1">
              <a:spLocks noChangeArrowheads="1"/>
            </p:cNvSpPr>
            <p:nvPr/>
          </p:nvSpPr>
          <p:spPr bwMode="auto">
            <a:xfrm>
              <a:off x="2076450" y="85725"/>
              <a:ext cx="164782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228600" marR="0" indent="-22860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4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Users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5102" y="83559"/>
              <a:ext cx="275953" cy="247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2793" y="533401"/>
              <a:ext cx="258262" cy="231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2793" y="935405"/>
              <a:ext cx="291101" cy="26124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9214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Different constituents of the three layers</a:t>
            </a:r>
            <a:r>
              <a:rPr lang="en-GB" altLang="en-US" sz="23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chemeClr val="tx2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 lvl="0">
              <a:buFont typeface="Courier New" panose="02070309020205020404" pitchFamily="49" charset="0"/>
              <a:buChar char="o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pPr algn="ctr"/>
              <a:t>6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  <a:endParaRPr lang="en-IN" sz="1200" dirty="0">
              <a:solidFill>
                <a:srgbClr val="E3EACF">
                  <a:lumMod val="5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979712" y="2276872"/>
            <a:ext cx="5472608" cy="2952328"/>
            <a:chOff x="0" y="0"/>
            <a:chExt cx="2762250" cy="1428750"/>
          </a:xfrm>
        </p:grpSpPr>
        <p:sp>
          <p:nvSpPr>
            <p:cNvPr id="21" name="AutoShape 230"/>
            <p:cNvSpPr>
              <a:spLocks noChangeArrowheads="1"/>
            </p:cNvSpPr>
            <p:nvPr/>
          </p:nvSpPr>
          <p:spPr bwMode="auto">
            <a:xfrm>
              <a:off x="0" y="476250"/>
              <a:ext cx="2762250" cy="47561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114300">
                <a:schemeClr val="bg1">
                  <a:lumMod val="50000"/>
                </a:scheme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" name="Text Box 231"/>
            <p:cNvSpPr txBox="1">
              <a:spLocks noChangeArrowheads="1"/>
            </p:cNvSpPr>
            <p:nvPr/>
          </p:nvSpPr>
          <p:spPr bwMode="auto">
            <a:xfrm>
              <a:off x="933450" y="733425"/>
              <a:ext cx="753745" cy="196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800" b="1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Platform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232"/>
            <p:cNvSpPr>
              <a:spLocks noChangeArrowheads="1"/>
            </p:cNvSpPr>
            <p:nvPr/>
          </p:nvSpPr>
          <p:spPr bwMode="auto">
            <a:xfrm>
              <a:off x="0" y="0"/>
              <a:ext cx="2762250" cy="47561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114300">
                <a:schemeClr val="bg1">
                  <a:lumMod val="50000"/>
                </a:scheme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4" name="Text Box 233"/>
            <p:cNvSpPr txBox="1">
              <a:spLocks noChangeArrowheads="1"/>
            </p:cNvSpPr>
            <p:nvPr/>
          </p:nvSpPr>
          <p:spPr bwMode="auto">
            <a:xfrm>
              <a:off x="933450" y="247650"/>
              <a:ext cx="847725" cy="200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800" b="1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AutoShape 234"/>
            <p:cNvSpPr>
              <a:spLocks noChangeArrowheads="1"/>
            </p:cNvSpPr>
            <p:nvPr/>
          </p:nvSpPr>
          <p:spPr bwMode="auto">
            <a:xfrm>
              <a:off x="0" y="952500"/>
              <a:ext cx="2762250" cy="47561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innerShdw blurRad="114300">
                <a:schemeClr val="bg1">
                  <a:lumMod val="50000"/>
                </a:schemeClr>
              </a:innerShdw>
            </a:effec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6" name="Text Box 235"/>
            <p:cNvSpPr txBox="1">
              <a:spLocks noChangeArrowheads="1"/>
            </p:cNvSpPr>
            <p:nvPr/>
          </p:nvSpPr>
          <p:spPr bwMode="auto">
            <a:xfrm>
              <a:off x="933450" y="1200150"/>
              <a:ext cx="915670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800" b="1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Infrastructure</a:t>
              </a:r>
              <a:endPara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36"/>
            <p:cNvSpPr txBox="1">
              <a:spLocks noChangeArrowheads="1"/>
            </p:cNvSpPr>
            <p:nvPr/>
          </p:nvSpPr>
          <p:spPr bwMode="auto">
            <a:xfrm>
              <a:off x="133350" y="981075"/>
              <a:ext cx="648970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Compute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37"/>
            <p:cNvSpPr txBox="1">
              <a:spLocks noChangeArrowheads="1"/>
            </p:cNvSpPr>
            <p:nvPr/>
          </p:nvSpPr>
          <p:spPr bwMode="auto">
            <a:xfrm>
              <a:off x="1047750" y="981075"/>
              <a:ext cx="648970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Storage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38"/>
            <p:cNvSpPr txBox="1">
              <a:spLocks noChangeArrowheads="1"/>
            </p:cNvSpPr>
            <p:nvPr/>
          </p:nvSpPr>
          <p:spPr bwMode="auto">
            <a:xfrm>
              <a:off x="1962150" y="981075"/>
              <a:ext cx="648970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Network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AutoShape 239"/>
            <p:cNvCxnSpPr>
              <a:cxnSpLocks noChangeShapeType="1"/>
            </p:cNvCxnSpPr>
            <p:nvPr/>
          </p:nvCxnSpPr>
          <p:spPr bwMode="auto">
            <a:xfrm>
              <a:off x="895350" y="952500"/>
              <a:ext cx="0" cy="210185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40"/>
            <p:cNvCxnSpPr>
              <a:cxnSpLocks noChangeShapeType="1"/>
            </p:cNvCxnSpPr>
            <p:nvPr/>
          </p:nvCxnSpPr>
          <p:spPr bwMode="auto">
            <a:xfrm>
              <a:off x="1876425" y="962025"/>
              <a:ext cx="0" cy="210185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 Box 241"/>
            <p:cNvSpPr txBox="1">
              <a:spLocks noChangeArrowheads="1"/>
            </p:cNvSpPr>
            <p:nvPr/>
          </p:nvSpPr>
          <p:spPr bwMode="auto">
            <a:xfrm>
              <a:off x="76200" y="504825"/>
              <a:ext cx="1058545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Operating System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242"/>
            <p:cNvSpPr txBox="1">
              <a:spLocks noChangeArrowheads="1"/>
            </p:cNvSpPr>
            <p:nvPr/>
          </p:nvSpPr>
          <p:spPr bwMode="auto">
            <a:xfrm>
              <a:off x="1400175" y="504825"/>
              <a:ext cx="1276350" cy="2286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 Runtimes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AutoShape 243"/>
            <p:cNvCxnSpPr>
              <a:cxnSpLocks noChangeShapeType="1"/>
            </p:cNvCxnSpPr>
            <p:nvPr/>
          </p:nvCxnSpPr>
          <p:spPr bwMode="auto">
            <a:xfrm>
              <a:off x="1323975" y="485775"/>
              <a:ext cx="0" cy="210185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 Box 244"/>
            <p:cNvSpPr txBox="1">
              <a:spLocks noChangeArrowheads="1"/>
            </p:cNvSpPr>
            <p:nvPr/>
          </p:nvSpPr>
          <p:spPr bwMode="auto">
            <a:xfrm>
              <a:off x="504825" y="38100"/>
              <a:ext cx="1695450" cy="1720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/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600" dirty="0"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Application Interfaces</a:t>
              </a:r>
              <a:endPara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458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Three layers in Traditional Computing</a:t>
            </a:r>
            <a:r>
              <a:rPr lang="en-GB" altLang="en-US" sz="23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boundaries between computing layers were not very clear to general users.</a:t>
            </a:r>
          </a:p>
          <a:p>
            <a:pPr algn="just">
              <a:defRPr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 unknowingly had to bear the burden of being concerned about all the three computing layers.</a:t>
            </a:r>
          </a:p>
          <a:p>
            <a:pPr algn="just">
              <a:defRPr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 of one computing layer can’t fully escape the responsibilities and headaches of arranging or managing the underlying layer(s).</a:t>
            </a: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7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65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Computing as Utility Service</a:t>
            </a:r>
            <a: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507731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model provides lots of flexibilities compared to traditional way of computing.</a:t>
            </a:r>
          </a:p>
          <a:p>
            <a:pPr algn="just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layers of computing, are delivered as utility services in cloud computing model.</a:t>
            </a: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Service</a:t>
            </a: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Service</a:t>
            </a: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or Software Service</a:t>
            </a:r>
          </a:p>
          <a:p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Software Vendors (ISV) provide the utility computing services.</a:t>
            </a: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8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88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You are already using Cloud Computing</a:t>
            </a: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</a:p>
          <a:p>
            <a:pPr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Picture or video sharing services </a:t>
            </a:r>
          </a:p>
          <a:p>
            <a:pPr>
              <a:lnSpc>
                <a:spcPct val="8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networking sites</a:t>
            </a: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9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14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Influences behind Cloud Service Adoption</a:t>
            </a:r>
            <a: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0036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</a:t>
            </a:r>
          </a:p>
          <a:p>
            <a:pPr>
              <a:lnSpc>
                <a:spcPct val="80000"/>
              </a:lnSpc>
              <a:defRPr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Network Connectivity</a:t>
            </a:r>
          </a:p>
          <a:p>
            <a:pPr>
              <a:lnSpc>
                <a:spcPct val="80000"/>
              </a:lnSpc>
              <a:defRPr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Computing</a:t>
            </a:r>
          </a:p>
          <a:p>
            <a:pPr>
              <a:lnSpc>
                <a:spcPct val="80000"/>
              </a:lnSpc>
              <a:defRPr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Commoditization</a:t>
            </a:r>
          </a:p>
          <a:p>
            <a:pPr>
              <a:lnSpc>
                <a:spcPct val="80000"/>
              </a:lnSpc>
              <a:defRPr/>
            </a:pPr>
            <a:endParaRPr lang="en-US" altLang="en-US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en-US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10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4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088" y="620688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Influences behind Cloud Service Adoption (Contd.)</a:t>
            </a:r>
            <a: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altLang="en-US" sz="2300" b="1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7064" y="1657573"/>
            <a:ext cx="7261135" cy="457973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or Business Influences</a:t>
            </a:r>
          </a:p>
          <a:p>
            <a:pPr>
              <a:lnSpc>
                <a:spcPct val="80000"/>
              </a:lnSpc>
              <a:defRPr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Solution</a:t>
            </a: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Outsourcing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or Responsiveness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Initial Investment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Maintenance Cost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  <a:p>
            <a:pPr lvl="1">
              <a:lnSpc>
                <a:spcPct val="80000"/>
              </a:lnSpc>
              <a:defRPr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en-US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en-US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7" y="6514347"/>
            <a:ext cx="536963" cy="272608"/>
          </a:xfrm>
          <a:prstGeom prst="rect">
            <a:avLst/>
          </a:prstGeom>
        </p:spPr>
        <p:txBody>
          <a:bodyPr/>
          <a:lstStyle/>
          <a:p>
            <a:pPr algn="ctr"/>
            <a:fld id="{40549308-61BC-4F2A-A83B-14C1AAE9C1EE}" type="slidenum">
              <a:rPr lang="en-GB" sz="1100">
                <a:solidFill>
                  <a:srgbClr val="6B7E36"/>
                </a:solidFill>
              </a:rPr>
              <a:t>11</a:t>
            </a:fld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65" y="6551766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9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3212976"/>
            <a:ext cx="6768752" cy="7920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300" b="1" dirty="0" smtClean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altLang="en-US" sz="2300" b="1" dirty="0">
              <a:solidFill>
                <a:srgbClr val="2F5897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7065" y="6525344"/>
            <a:ext cx="7263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6B7E36"/>
                </a:solidFill>
              </a:rPr>
              <a:t>Cloud </a:t>
            </a:r>
            <a:r>
              <a:rPr lang="en-US" sz="1100" dirty="0">
                <a:solidFill>
                  <a:srgbClr val="6B7E36"/>
                </a:solidFill>
              </a:rPr>
              <a:t>Computing; Sandeep </a:t>
            </a:r>
            <a:r>
              <a:rPr lang="en-US" sz="1100" dirty="0" err="1">
                <a:solidFill>
                  <a:srgbClr val="6B7E36"/>
                </a:solidFill>
              </a:rPr>
              <a:t>Bhowmik</a:t>
            </a:r>
            <a:r>
              <a:rPr lang="en-US" sz="1100" dirty="0">
                <a:solidFill>
                  <a:srgbClr val="6B7E36"/>
                </a:solidFill>
              </a:rPr>
              <a:t> @ Cambridge University Press</a:t>
            </a:r>
            <a:endParaRPr lang="en-GB" sz="1100" dirty="0">
              <a:solidFill>
                <a:srgbClr val="6B7E3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5" y="55657"/>
            <a:ext cx="7263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Chapter 1	Introduction</a:t>
            </a:r>
          </a:p>
        </p:txBody>
      </p:sp>
    </p:spTree>
    <p:extLst>
      <p:ext uri="{BB962C8B-B14F-4D97-AF65-F5344CB8AC3E}">
        <p14:creationId xmlns:p14="http://schemas.microsoft.com/office/powerpoint/2010/main" val="348461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3725</TotalTime>
  <Words>538</Words>
  <Application>Microsoft Office PowerPoint</Application>
  <PresentationFormat>On-screen Show (4:3)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Bell MT</vt:lpstr>
      <vt:lpstr>Calibri</vt:lpstr>
      <vt:lpstr>Calibri Light</vt:lpstr>
      <vt:lpstr>Courier New</vt:lpstr>
      <vt:lpstr>Monotype Sorts</vt:lpstr>
      <vt:lpstr>Times New Roman</vt:lpstr>
      <vt:lpstr>Wingdings 3</vt:lpstr>
      <vt:lpstr>Office Theme</vt:lpstr>
      <vt:lpstr>Chapter 1</vt:lpstr>
      <vt:lpstr>What is the Buzz About?</vt:lpstr>
      <vt:lpstr>Limitations of Traditional Computing Approaches </vt:lpstr>
      <vt:lpstr>Three Layers of Computing  </vt:lpstr>
      <vt:lpstr>Users of three different computing layers </vt:lpstr>
      <vt:lpstr>Different constituents of the three layers </vt:lpstr>
      <vt:lpstr>Three layers in Traditional Computing </vt:lpstr>
      <vt:lpstr>Computing as Utility Service </vt:lpstr>
      <vt:lpstr>You are already using Cloud Computing</vt:lpstr>
      <vt:lpstr>Influences behind Cloud Service Adoption </vt:lpstr>
      <vt:lpstr>Influences behind Cloud Service Adoption (Contd.) </vt:lpstr>
      <vt:lpstr>Thank You</vt:lpstr>
    </vt:vector>
  </TitlesOfParts>
  <Company>ISMA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Brooks</dc:creator>
  <cp:lastModifiedBy>Taranpreet Kaur</cp:lastModifiedBy>
  <cp:revision>528</cp:revision>
  <cp:lastPrinted>2001-01-01T20:59:15Z</cp:lastPrinted>
  <dcterms:created xsi:type="dcterms:W3CDTF">2001-02-05T19:08:14Z</dcterms:created>
  <dcterms:modified xsi:type="dcterms:W3CDTF">2020-11-18T10:45:40Z</dcterms:modified>
</cp:coreProperties>
</file>