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CF21B86-F5D1-4326-8291-75304B4D6EB3}">
          <p14:sldIdLst>
            <p14:sldId id="256"/>
            <p14:sldId id="257"/>
            <p14:sldId id="258"/>
            <p14:sldId id="259"/>
            <p14:sldId id="262"/>
            <p14:sldId id="260"/>
            <p14:sldId id="261"/>
            <p14:sldId id="263"/>
            <p14:sldId id="264"/>
            <p14:sldId id="265"/>
            <p14:sldId id="266"/>
            <p14:sldId id="26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Lecture 1.2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Closed-form Equation, Type of Gradient Descent</a:t>
            </a:r>
          </a:p>
          <a:p>
            <a:r>
              <a:rPr lang="en-US" dirty="0"/>
              <a:t>(Batch, Stochastic, Mini-batch) - Definition, properties.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5829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00FF"/>
                </a:solidFill>
              </a:rPr>
              <a:t>Closed-form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/>
                <a:r>
                  <a:rPr lang="en-US" dirty="0" smtClean="0">
                    <a:solidFill>
                      <a:srgbClr val="0000FF"/>
                    </a:solidFill>
                  </a:rPr>
                  <a:t>Closed-form Equation</a:t>
                </a:r>
                <a:r>
                  <a:rPr lang="en-US" dirty="0" smtClean="0"/>
                  <a:t>: closed-form </a:t>
                </a:r>
                <a:r>
                  <a:rPr lang="en-US" dirty="0"/>
                  <a:t>equation is a mathematical expression that provides a direct way to compute a value without requiring iterative procedures or infinite </a:t>
                </a:r>
                <a:r>
                  <a:rPr lang="en-US" dirty="0" smtClean="0"/>
                  <a:t>series</a:t>
                </a:r>
              </a:p>
              <a:p>
                <a:pPr lvl="1" algn="just"/>
                <a:r>
                  <a:rPr lang="en-US" dirty="0"/>
                  <a:t>Example: </a:t>
                </a:r>
                <a:endParaRPr lang="en-US" dirty="0" smtClean="0"/>
              </a:p>
              <a:p>
                <a:pPr lvl="2" algn="just"/>
                <a:r>
                  <a:rPr lang="en-US" b="1" dirty="0" smtClean="0"/>
                  <a:t>Sum </a:t>
                </a:r>
                <a:r>
                  <a:rPr lang="en-US" b="1" dirty="0"/>
                  <a:t>of an Arithmetic Series</a:t>
                </a:r>
                <a:r>
                  <a:rPr lang="en-US" dirty="0"/>
                  <a:t>: The sum of the first </a:t>
                </a:r>
                <a:r>
                  <a:rPr lang="en-US" dirty="0" smtClean="0"/>
                  <a:t>n </a:t>
                </a:r>
                <a:r>
                  <a:rPr lang="en-US" dirty="0"/>
                  <a:t>terms of an arithmetic series with the first term </a:t>
                </a:r>
                <a:r>
                  <a:rPr lang="en-US" b="1" dirty="0" smtClean="0"/>
                  <a:t>a </a:t>
                </a:r>
                <a:r>
                  <a:rPr lang="en-US" dirty="0"/>
                  <a:t>and common difference </a:t>
                </a:r>
                <a:r>
                  <a:rPr lang="en-US" dirty="0" smtClean="0"/>
                  <a:t>d is:</a:t>
                </a:r>
              </a:p>
              <a:p>
                <a:pPr marL="914400" lvl="2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</a:rPr>
                            <m:t>𝑛</m:t>
                          </m:r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US" i="1">
                          <a:latin typeface="Cambria Math"/>
                        </a:rPr>
                        <m:t>(2</m:t>
                      </m:r>
                      <m:r>
                        <a:rPr lang="en-US" i="1">
                          <a:latin typeface="Cambria Math"/>
                        </a:rPr>
                        <m:t>𝑎</m:t>
                      </m:r>
                      <m:r>
                        <a:rPr lang="en-US" i="1">
                          <a:latin typeface="Cambria Math"/>
                        </a:rPr>
                        <m:t>+</m:t>
                      </m:r>
                      <m:d>
                        <m:dPr>
                          <m:ctrlPr>
                            <a:rPr lang="en-US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𝑛</m:t>
                          </m:r>
                          <m:r>
                            <a:rPr lang="en-US" i="1">
                              <a:latin typeface="Cambria Math"/>
                            </a:rPr>
                            <m:t>−1</m:t>
                          </m:r>
                        </m:e>
                      </m:d>
                      <m:r>
                        <a:rPr lang="en-US" i="1">
                          <a:latin typeface="Cambria Math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752" r="-303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3949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Gradient Descent</a:t>
            </a:r>
            <a:endParaRPr lang="en-IN" dirty="0">
              <a:solidFill>
                <a:srgbClr val="0000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en-US" dirty="0">
                <a:solidFill>
                  <a:srgbClr val="0000FF"/>
                </a:solidFill>
              </a:rPr>
              <a:t>Gradient Descent </a:t>
            </a:r>
            <a:r>
              <a:rPr lang="en-US" dirty="0"/>
              <a:t>is an optimization algorithm used in machine learning and deep learning to minimize the loss function by updating the model's parameters in the direction of the steepest </a:t>
            </a:r>
            <a:r>
              <a:rPr lang="en-US" dirty="0" smtClean="0"/>
              <a:t>descent</a:t>
            </a:r>
          </a:p>
          <a:p>
            <a:pPr algn="just"/>
            <a:r>
              <a:rPr lang="en-US" dirty="0" smtClean="0"/>
              <a:t>The </a:t>
            </a:r>
            <a:r>
              <a:rPr lang="en-US" dirty="0"/>
              <a:t>type of gradient descent depends on how much data is used to compute the gradient at each </a:t>
            </a:r>
            <a:r>
              <a:rPr lang="en-US" dirty="0" smtClean="0"/>
              <a:t>iteration</a:t>
            </a:r>
          </a:p>
          <a:p>
            <a:pPr algn="just"/>
            <a:r>
              <a:rPr lang="en-US" dirty="0"/>
              <a:t>Gradient descent is also called “the deepest downward slope algorithm</a:t>
            </a:r>
            <a:r>
              <a:rPr lang="en-US" dirty="0" smtClean="0"/>
              <a:t>”</a:t>
            </a:r>
          </a:p>
          <a:p>
            <a:pPr algn="just"/>
            <a:r>
              <a:rPr lang="en-US" dirty="0" smtClean="0"/>
              <a:t>It </a:t>
            </a:r>
            <a:r>
              <a:rPr lang="en-US" dirty="0"/>
              <a:t>is very important in machine learning, where it is used to minimize a cost </a:t>
            </a:r>
            <a:r>
              <a:rPr lang="en-US" dirty="0" smtClean="0"/>
              <a:t>function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2959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" y="1095375"/>
            <a:ext cx="8191500" cy="466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97997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00FF"/>
                </a:solidFill>
              </a:rPr>
              <a:t>Loss function</a:t>
            </a:r>
            <a:endParaRPr lang="en-IN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𝐸</m:t>
                      </m:r>
                      <m:d>
                        <m:d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𝑤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b="0" i="1" smtClean="0">
                                      <a:latin typeface="Cambria Math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IN" dirty="0" smtClean="0"/>
              </a:p>
              <a:p>
                <a:r>
                  <a:rPr lang="en-US" dirty="0" smtClean="0">
                    <a:latin typeface="Cambria Math"/>
                  </a:rPr>
                  <a:t>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𝑤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dirty="0" smtClean="0">
                    <a:latin typeface="Cambria Math"/>
                  </a:rPr>
                  <a:t>, then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IN" i="1" smtClean="0"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𝐸</m:t>
                          </m:r>
                        </m:num>
                        <m:den>
                          <m:r>
                            <a:rPr lang="en-IN" i="1"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𝑤</m:t>
                          </m:r>
                        </m:den>
                      </m:f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9831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0000FF"/>
                </a:solidFill>
              </a:rPr>
              <a:t>Mathematical Formulation of Gradient Descent</a:t>
            </a:r>
            <a:endParaRPr lang="en-IN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endParaRPr lang="en-US" b="0" i="1" dirty="0" smtClean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𝑤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r>
                        <a:rPr lang="en-US" b="0" i="1" smtClean="0">
                          <a:latin typeface="Cambria Math"/>
                        </a:rPr>
                        <m:t>𝑤</m:t>
                      </m:r>
                      <m:r>
                        <a:rPr lang="en-US" b="0" i="1" smtClean="0">
                          <a:latin typeface="Cambria Math"/>
                        </a:rPr>
                        <m:t>−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𝜂𝛻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𝐸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𝑤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IN" dirty="0" smtClean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𝑤</m:t>
                    </m:r>
                  </m:oMath>
                </a14:m>
                <a:r>
                  <a:rPr lang="en-IN" dirty="0" smtClean="0"/>
                  <a:t> : </a:t>
                </a:r>
                <a:r>
                  <a:rPr lang="en-IN" dirty="0"/>
                  <a:t>Model parameters (weights</a:t>
                </a:r>
                <a:r>
                  <a:rPr lang="en-IN" dirty="0" smtClean="0"/>
                  <a:t>)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𝜂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IN" dirty="0" smtClean="0"/>
                  <a:t>: Learning rate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𝛻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𝐸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(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𝑤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en-IN" dirty="0" smtClean="0"/>
                  <a:t>: </a:t>
                </a:r>
                <a:r>
                  <a:rPr lang="en-US" dirty="0"/>
                  <a:t>Gradient of the loss function 𝐸(𝑤</a:t>
                </a:r>
                <a:r>
                  <a:rPr lang="en-US" dirty="0" smtClean="0"/>
                  <a:t>) with </a:t>
                </a:r>
                <a:r>
                  <a:rPr lang="en-US" dirty="0"/>
                  <a:t>respect to </a:t>
                </a:r>
                <a:r>
                  <a:rPr lang="en-US" dirty="0" smtClean="0"/>
                  <a:t>𝑤</a:t>
                </a:r>
              </a:p>
              <a:p>
                <a:r>
                  <a:rPr lang="en-US" dirty="0" smtClean="0"/>
                  <a:t>It can be also written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𝑤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</a:rPr>
                        <m:t>𝑤</m:t>
                      </m:r>
                      <m:r>
                        <a:rPr lang="en-US" i="1">
                          <a:latin typeface="Cambria Math"/>
                        </a:rPr>
                        <m:t>−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𝜂</m:t>
                      </m:r>
                      <m:f>
                        <m:fPr>
                          <m:ctrlPr>
                            <a:rPr lang="en-US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/>
                            </a:rPr>
                            <m:t>𝑖</m:t>
                          </m:r>
                          <m:r>
                            <a:rPr lang="en-US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>
                                  <a:latin typeface="Cambria Math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endParaRPr lang="en-IN" dirty="0" smtClean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704" t="-3774" b="-3180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425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Output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04800"/>
            <a:ext cx="8004077" cy="642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2912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00FF"/>
                </a:solidFill>
              </a:rPr>
              <a:t>Numerical Problem</a:t>
            </a:r>
            <a:endParaRPr lang="en-IN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𝑤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𝑤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−3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+2, 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𝜂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=0.1, 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𝑤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=0 ,</m:t>
                    </m:r>
                  </m:oMath>
                </a14:m>
                <a:r>
                  <a:rPr lang="en-IN" dirty="0" smtClean="0"/>
                  <a:t> then find w and E(w) for five iterations: </a:t>
                </a:r>
              </a:p>
              <a:p>
                <a:pPr lvl="1">
                  <a:buFont typeface="Arial" pitchFamily="34" charset="0"/>
                  <a:buChar char="•"/>
                </a:pPr>
                <a:r>
                  <a:rPr lang="en-US" dirty="0" smtClean="0"/>
                  <a:t>So, we see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i="1" dirty="0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b="0" i="1" dirty="0" smtClean="0">
                        <a:latin typeface="Cambria Math"/>
                      </a:rPr>
                      <m:t>=1</m:t>
                    </m:r>
                  </m:oMath>
                </a14:m>
                <a:r>
                  <a:rPr lang="en-US" dirty="0" smtClean="0"/>
                  <a:t>, therefore iterations can be solved in terms of w only</a:t>
                </a:r>
              </a:p>
              <a:p>
                <a:pPr lvl="1"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IN" i="1" smtClean="0">
                            <a:latin typeface="Cambria Math"/>
                            <a:ea typeface="Cambria Math"/>
                          </a:rPr>
                          <m:t>𝛿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𝐸</m:t>
                        </m:r>
                      </m:num>
                      <m:den>
                        <m:r>
                          <a:rPr lang="en-IN" i="1" smtClean="0">
                            <a:latin typeface="Cambria Math"/>
                            <a:ea typeface="Cambria Math"/>
                          </a:rPr>
                          <m:t>𝛿</m:t>
                        </m:r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𝑤</m:t>
                        </m:r>
                      </m:den>
                    </m:f>
                    <m:r>
                      <a:rPr lang="en-US" b="0" i="1" smtClean="0">
                        <a:latin typeface="Cambria Math"/>
                      </a:rPr>
                      <m:t>=2</m:t>
                    </m:r>
                    <m:d>
                      <m:dPr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𝑤</m:t>
                        </m:r>
                        <m:r>
                          <a:rPr lang="en-US" b="0" i="1" smtClean="0">
                            <a:latin typeface="Cambria Math"/>
                          </a:rPr>
                          <m:t>−3</m:t>
                        </m:r>
                      </m:e>
                    </m:d>
                  </m:oMath>
                </a14:m>
                <a:endParaRPr lang="en-US" b="0" dirty="0" smtClean="0"/>
              </a:p>
              <a:p>
                <a:pPr lvl="1"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𝑛𝑒𝑤</m:t>
                        </m:r>
                      </m:sub>
                    </m:sSub>
                    <m:r>
                      <a:rPr lang="en-US" sz="24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𝑜𝑙𝑑</m:t>
                        </m:r>
                      </m:sub>
                    </m:sSub>
                    <m:r>
                      <a:rPr lang="en-US" sz="2400" i="1">
                        <a:latin typeface="Cambria Math"/>
                      </a:rPr>
                      <m:t>−</m:t>
                    </m:r>
                    <m:r>
                      <a:rPr lang="en-US" sz="2400" i="1">
                        <a:latin typeface="Cambria Math"/>
                        <a:ea typeface="Cambria Math"/>
                      </a:rPr>
                      <m:t>𝜂𝛻</m:t>
                    </m:r>
                    <m:r>
                      <a:rPr lang="en-US" sz="2400" i="1">
                        <a:latin typeface="Cambria Math"/>
                        <a:ea typeface="Cambria Math"/>
                      </a:rPr>
                      <m:t>𝐸</m:t>
                    </m:r>
                    <m:d>
                      <m:dPr>
                        <m:ctrlPr>
                          <a:rPr lang="en-US" sz="2400" i="1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/>
                                <a:ea typeface="Cambria Math"/>
                              </a:rPr>
                              <m:t>𝑤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  <a:ea typeface="Cambria Math"/>
                              </a:rPr>
                              <m:t>𝑜𝑙𝑑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/>
                        <a:ea typeface="Cambria Math"/>
                      </a:rPr>
                      <m:t>⇒</m:t>
                    </m:r>
                    <m:r>
                      <a:rPr lang="en-US" sz="2400" i="1" smtClean="0">
                        <a:latin typeface="Cambria Math"/>
                      </a:rPr>
                      <m:t>0</m:t>
                    </m:r>
                    <m:r>
                      <a:rPr lang="en-US" sz="2400" b="0" i="1" smtClean="0">
                        <a:latin typeface="Cambria Math"/>
                      </a:rPr>
                      <m:t>.8</m:t>
                    </m:r>
                    <m:sSub>
                      <m:sSubPr>
                        <m:ctrlPr>
                          <a:rPr lang="en-US" sz="24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𝑜𝑙𝑑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+0.6</m:t>
                    </m:r>
                  </m:oMath>
                </a14:m>
                <a:endParaRPr lang="en-IN" dirty="0"/>
              </a:p>
              <a:p>
                <a:pPr lvl="1">
                  <a:buFont typeface="Arial" pitchFamily="34" charset="0"/>
                  <a:buChar char="•"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630" t="-16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1755395"/>
                  </p:ext>
                </p:extLst>
              </p:nvPr>
            </p:nvGraphicFramePr>
            <p:xfrm>
              <a:off x="3276600" y="5105400"/>
              <a:ext cx="1981200" cy="11074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0267"/>
                    <a:gridCol w="778933"/>
                    <a:gridCol w="762000"/>
                  </a:tblGrid>
                  <a:tr h="0">
                    <a:tc>
                      <a:txBody>
                        <a:bodyPr/>
                        <a:lstStyle/>
                        <a:p>
                          <a:r>
                            <a:rPr lang="en-US" dirty="0" err="1" smtClean="0"/>
                            <a:t>Sl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w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𝑤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11</a:t>
                          </a:r>
                          <a:endParaRPr lang="en-IN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2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0.6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7.76</a:t>
                          </a:r>
                          <a:endParaRPr lang="en-IN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1755395"/>
                  </p:ext>
                </p:extLst>
              </p:nvPr>
            </p:nvGraphicFramePr>
            <p:xfrm>
              <a:off x="3276600" y="5105400"/>
              <a:ext cx="1981200" cy="11074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0267"/>
                    <a:gridCol w="778933"/>
                    <a:gridCol w="762000"/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dirty="0" err="1" smtClean="0"/>
                            <a:t>Sl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w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60800" t="-8333" b="-226667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11</a:t>
                          </a:r>
                          <a:endParaRPr lang="en-IN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2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0.6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7.76</a:t>
                          </a:r>
                          <a:endParaRPr lang="en-IN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90459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01355899"/>
                  </p:ext>
                </p:extLst>
              </p:nvPr>
            </p:nvGraphicFramePr>
            <p:xfrm>
              <a:off x="2895600" y="990600"/>
              <a:ext cx="3505200" cy="2219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8934"/>
                    <a:gridCol w="1378112"/>
                    <a:gridCol w="1348154"/>
                  </a:tblGrid>
                  <a:tr h="0">
                    <a:tc>
                      <a:txBody>
                        <a:bodyPr/>
                        <a:lstStyle/>
                        <a:p>
                          <a:r>
                            <a:rPr lang="en-US" dirty="0" err="1" smtClean="0"/>
                            <a:t>Sl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w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/>
                                      </a:rPr>
                                      <m:t>𝑤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11</a:t>
                          </a:r>
                          <a:endParaRPr lang="en-IN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2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0.6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7.76</a:t>
                          </a: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IN"/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IN"/>
                            <a:t>1.0800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IN"/>
                            <a:t>5.6864</a:t>
                          </a:r>
                        </a:p>
                      </a:txBody>
                      <a:tcPr anchor="ctr"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IN"/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IN"/>
                            <a:t>1.4640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 smtClean="0"/>
                            <a:t>4.3593</a:t>
                          </a:r>
                          <a:endParaRPr lang="en-IN" dirty="0"/>
                        </a:p>
                      </a:txBody>
                      <a:tcPr anchor="ctr"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IN"/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 smtClean="0"/>
                            <a:t>1.7712</a:t>
                          </a:r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 smtClean="0"/>
                            <a:t>3.5099</a:t>
                          </a:r>
                          <a:endParaRPr lang="en-IN" dirty="0"/>
                        </a:p>
                      </a:txBody>
                      <a:tcPr anchor="ctr"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01355899"/>
                  </p:ext>
                </p:extLst>
              </p:nvPr>
            </p:nvGraphicFramePr>
            <p:xfrm>
              <a:off x="2895600" y="990600"/>
              <a:ext cx="3505200" cy="2219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8934"/>
                    <a:gridCol w="1378112"/>
                    <a:gridCol w="1348154"/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en-US" dirty="0" err="1" smtClean="0"/>
                            <a:t>Sl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w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60181" t="-8333" b="-531667"/>
                          </a:stretch>
                        </a:blip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11</a:t>
                          </a:r>
                          <a:endParaRPr lang="en-IN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2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0.6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7.76</a:t>
                          </a:r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IN"/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IN"/>
                            <a:t>1.0800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IN"/>
                            <a:t>5.6864</a:t>
                          </a:r>
                        </a:p>
                      </a:txBody>
                      <a:tcPr anchor="ctr"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IN"/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IN"/>
                            <a:t>1.4640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 smtClean="0"/>
                            <a:t>4.3593</a:t>
                          </a:r>
                          <a:endParaRPr lang="en-IN" dirty="0"/>
                        </a:p>
                      </a:txBody>
                      <a:tcPr anchor="ctr"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IN"/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 smtClean="0"/>
                            <a:t>1.7712</a:t>
                          </a:r>
                          <a:endParaRPr lang="en-IN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IN" dirty="0" smtClean="0"/>
                            <a:t>3.5099</a:t>
                          </a:r>
                          <a:endParaRPr lang="en-IN" dirty="0"/>
                        </a:p>
                      </a:txBody>
                      <a:tcPr anchor="ctr"/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48777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0000FF"/>
                </a:solidFill>
              </a:rPr>
              <a:t>Batch Gradient Descent</a:t>
            </a:r>
            <a:endParaRPr lang="en-IN" dirty="0">
              <a:solidFill>
                <a:srgbClr val="0000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n-US" b="1" dirty="0"/>
              <a:t>Batch Gradient Descent </a:t>
            </a:r>
            <a:r>
              <a:rPr lang="en-US" dirty="0"/>
              <a:t>is an optimization algorithm used to minimize a loss function by iteratively updating the model's parameters using the entire dataset to calculate the </a:t>
            </a:r>
            <a:r>
              <a:rPr lang="en-US" dirty="0" smtClean="0"/>
              <a:t>gradient</a:t>
            </a:r>
          </a:p>
          <a:p>
            <a:pPr algn="just"/>
            <a:r>
              <a:rPr lang="en-US" dirty="0"/>
              <a:t>Advantages</a:t>
            </a:r>
            <a:r>
              <a:rPr lang="en-US" dirty="0" smtClean="0"/>
              <a:t>:</a:t>
            </a:r>
          </a:p>
          <a:p>
            <a:pPr lvl="1" algn="just"/>
            <a:r>
              <a:rPr lang="en-US" dirty="0" smtClean="0"/>
              <a:t>Computes </a:t>
            </a:r>
            <a:r>
              <a:rPr lang="en-US" dirty="0"/>
              <a:t>the gradient with high precision using the entire </a:t>
            </a:r>
            <a:r>
              <a:rPr lang="en-US" dirty="0" smtClean="0"/>
              <a:t>dataset</a:t>
            </a:r>
          </a:p>
          <a:p>
            <a:pPr lvl="1" algn="just"/>
            <a:r>
              <a:rPr lang="en-US" dirty="0" smtClean="0"/>
              <a:t>Converges </a:t>
            </a:r>
            <a:r>
              <a:rPr lang="en-US" dirty="0"/>
              <a:t>steadily towards the </a:t>
            </a:r>
            <a:r>
              <a:rPr lang="en-US" dirty="0" smtClean="0"/>
              <a:t>minimum</a:t>
            </a:r>
          </a:p>
          <a:p>
            <a:pPr lvl="1" algn="just"/>
            <a:r>
              <a:rPr lang="en-US" dirty="0" smtClean="0"/>
              <a:t>Suitable </a:t>
            </a:r>
            <a:r>
              <a:rPr lang="en-US" dirty="0"/>
              <a:t>for smooth and convex loss </a:t>
            </a:r>
            <a:r>
              <a:rPr lang="en-US" dirty="0" smtClean="0"/>
              <a:t>functions</a:t>
            </a:r>
          </a:p>
          <a:p>
            <a:pPr algn="just"/>
            <a:r>
              <a:rPr lang="en-US" dirty="0" smtClean="0"/>
              <a:t>Disadvantages: </a:t>
            </a:r>
          </a:p>
          <a:p>
            <a:pPr lvl="1" algn="just"/>
            <a:r>
              <a:rPr lang="en-US" dirty="0"/>
              <a:t>Memory-intensive when the dataset is </a:t>
            </a:r>
            <a:r>
              <a:rPr lang="en-US" dirty="0" smtClean="0"/>
              <a:t>large</a:t>
            </a:r>
          </a:p>
          <a:p>
            <a:pPr lvl="1" algn="just"/>
            <a:r>
              <a:rPr lang="en-US" dirty="0"/>
              <a:t>Requires processing the entire dataset for each iteration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9162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00FF"/>
                </a:solidFill>
              </a:rPr>
              <a:t>Stochastic</a:t>
            </a:r>
            <a:r>
              <a:rPr lang="en-IN" dirty="0"/>
              <a:t> </a:t>
            </a:r>
            <a:r>
              <a:rPr lang="en-IN" dirty="0">
                <a:solidFill>
                  <a:srgbClr val="0000FF"/>
                </a:solidFill>
              </a:rPr>
              <a:t>Gradient </a:t>
            </a:r>
            <a:r>
              <a:rPr lang="en-IN" dirty="0" smtClean="0">
                <a:solidFill>
                  <a:srgbClr val="0000FF"/>
                </a:solidFill>
              </a:rPr>
              <a:t>Descent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en-US" b="1" dirty="0"/>
              <a:t>Stochastic Gradient Descent (SGD) </a:t>
            </a:r>
            <a:r>
              <a:rPr lang="en-US" dirty="0"/>
              <a:t>is a variant of gradient descent where the model parameters are updated using only a single training example at a time, rather than the entire </a:t>
            </a:r>
            <a:r>
              <a:rPr lang="en-US" dirty="0" smtClean="0"/>
              <a:t>dataset</a:t>
            </a:r>
          </a:p>
          <a:p>
            <a:pPr algn="just"/>
            <a:r>
              <a:rPr lang="en-US" dirty="0"/>
              <a:t> This leads to faster updates and can help the algorithm escape local minima, making it suitable for large </a:t>
            </a:r>
            <a:r>
              <a:rPr lang="en-US" dirty="0" smtClean="0"/>
              <a:t>datasets</a:t>
            </a:r>
          </a:p>
          <a:p>
            <a:pPr algn="just"/>
            <a:r>
              <a:rPr lang="en-IN" dirty="0" smtClean="0"/>
              <a:t>Advantages</a:t>
            </a:r>
          </a:p>
          <a:p>
            <a:pPr lvl="1" algn="just"/>
            <a:r>
              <a:rPr lang="en-IN" dirty="0"/>
              <a:t>Faster </a:t>
            </a:r>
            <a:r>
              <a:rPr lang="en-IN" dirty="0" smtClean="0"/>
              <a:t>Updates</a:t>
            </a:r>
          </a:p>
          <a:p>
            <a:pPr lvl="1" algn="just"/>
            <a:r>
              <a:rPr lang="en-IN" dirty="0"/>
              <a:t>Escaping Local </a:t>
            </a:r>
            <a:r>
              <a:rPr lang="en-IN" dirty="0" smtClean="0"/>
              <a:t>Minima</a:t>
            </a:r>
          </a:p>
          <a:p>
            <a:pPr lvl="1" algn="just"/>
            <a:r>
              <a:rPr lang="en-IN" dirty="0" smtClean="0"/>
              <a:t>Scalability</a:t>
            </a:r>
          </a:p>
          <a:p>
            <a:pPr algn="just"/>
            <a:r>
              <a:rPr lang="en-IN" dirty="0" smtClean="0"/>
              <a:t>Disadvantages</a:t>
            </a:r>
          </a:p>
          <a:p>
            <a:pPr lvl="1" algn="just"/>
            <a:r>
              <a:rPr lang="en-IN" dirty="0"/>
              <a:t>Noisy </a:t>
            </a:r>
            <a:r>
              <a:rPr lang="en-IN" dirty="0" smtClean="0"/>
              <a:t>Convergence</a:t>
            </a:r>
          </a:p>
          <a:p>
            <a:pPr lvl="1" algn="just"/>
            <a:r>
              <a:rPr lang="en-IN" dirty="0"/>
              <a:t>Requires More Iterations</a:t>
            </a:r>
          </a:p>
        </p:txBody>
      </p:sp>
    </p:spTree>
    <p:extLst>
      <p:ext uri="{BB962C8B-B14F-4D97-AF65-F5344CB8AC3E}">
        <p14:creationId xmlns:p14="http://schemas.microsoft.com/office/powerpoint/2010/main" val="29411660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0000FF"/>
                </a:solidFill>
              </a:rPr>
              <a:t>Mini-Batch</a:t>
            </a:r>
            <a:r>
              <a:rPr lang="en-IN" dirty="0" smtClean="0"/>
              <a:t> </a:t>
            </a:r>
            <a:r>
              <a:rPr lang="en-IN" dirty="0">
                <a:solidFill>
                  <a:srgbClr val="0000FF"/>
                </a:solidFill>
              </a:rPr>
              <a:t>Gradient Descent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just"/>
            <a:r>
              <a:rPr lang="en-US" b="1" dirty="0"/>
              <a:t>Mini-batch Gradient Descent </a:t>
            </a:r>
            <a:r>
              <a:rPr lang="en-US" dirty="0"/>
              <a:t>is a hybrid approach between Batch Gradient Descent and Stochastic Gradient Descent. It aims to combine the advantages of both by updating the model parameters using a subset (mini-batch) of the training data rather than the entire dataset (batch) or just one data point (stochastic</a:t>
            </a:r>
            <a:r>
              <a:rPr lang="en-US" dirty="0" smtClean="0"/>
              <a:t>)</a:t>
            </a:r>
          </a:p>
          <a:p>
            <a:pPr lvl="1" algn="just"/>
            <a:r>
              <a:rPr lang="en-US" b="1" dirty="0"/>
              <a:t>Mini-batch</a:t>
            </a:r>
            <a:r>
              <a:rPr lang="en-US" dirty="0"/>
              <a:t>: The dataset is divided into small batches, each containing a fixed number of training </a:t>
            </a:r>
            <a:r>
              <a:rPr lang="en-US" dirty="0" smtClean="0"/>
              <a:t>examples (The </a:t>
            </a:r>
            <a:r>
              <a:rPr lang="en-US" dirty="0"/>
              <a:t>size of each mini-batch (denoted as </a:t>
            </a:r>
            <a:r>
              <a:rPr lang="en-US" dirty="0" smtClean="0"/>
              <a:t>𝑏) </a:t>
            </a:r>
            <a:r>
              <a:rPr lang="en-US" dirty="0"/>
              <a:t>is a </a:t>
            </a:r>
            <a:r>
              <a:rPr lang="en-US" dirty="0" smtClean="0"/>
              <a:t>hyper-parameter)</a:t>
            </a:r>
          </a:p>
          <a:p>
            <a:pPr lvl="1" algn="just"/>
            <a:r>
              <a:rPr lang="en-US" b="1" dirty="0"/>
              <a:t>Gradient Calculation: </a:t>
            </a:r>
            <a:r>
              <a:rPr lang="en-US" dirty="0"/>
              <a:t>For each mini-batch, the gradient is calculated based on the average of the training examples in that </a:t>
            </a:r>
            <a:r>
              <a:rPr lang="en-US" dirty="0" smtClean="0"/>
              <a:t>batch</a:t>
            </a:r>
          </a:p>
          <a:p>
            <a:pPr lvl="1" algn="just"/>
            <a:r>
              <a:rPr lang="en-US" b="1" dirty="0"/>
              <a:t>Weight Update</a:t>
            </a:r>
            <a:r>
              <a:rPr lang="en-US" dirty="0"/>
              <a:t>: The model parameters are updated using the computed gradient for the </a:t>
            </a:r>
            <a:r>
              <a:rPr lang="en-US" dirty="0" smtClean="0"/>
              <a:t>mini-batch</a:t>
            </a:r>
          </a:p>
          <a:p>
            <a:pPr lvl="1" algn="just"/>
            <a:r>
              <a:rPr lang="en-US" b="1" dirty="0"/>
              <a:t>Repeat</a:t>
            </a:r>
            <a:r>
              <a:rPr lang="en-US" dirty="0"/>
              <a:t> for all mini-batches until </a:t>
            </a:r>
            <a:r>
              <a:rPr lang="en-US" dirty="0" smtClean="0"/>
              <a:t>convergence</a:t>
            </a:r>
          </a:p>
          <a:p>
            <a:pPr algn="just"/>
            <a:r>
              <a:rPr lang="en-US" b="1" dirty="0" smtClean="0"/>
              <a:t>Advantages</a:t>
            </a:r>
            <a:r>
              <a:rPr lang="en-US" dirty="0" smtClean="0"/>
              <a:t>: </a:t>
            </a:r>
            <a:r>
              <a:rPr lang="en-IN" dirty="0"/>
              <a:t>Faster than Batch GD, Less Noisy than </a:t>
            </a:r>
            <a:r>
              <a:rPr lang="en-IN" dirty="0" smtClean="0"/>
              <a:t>SGD</a:t>
            </a:r>
          </a:p>
          <a:p>
            <a:pPr algn="just"/>
            <a:r>
              <a:rPr lang="en-IN" b="1" dirty="0" smtClean="0"/>
              <a:t>Disadvantages</a:t>
            </a:r>
            <a:r>
              <a:rPr lang="en-IN" dirty="0" smtClean="0"/>
              <a:t>: </a:t>
            </a:r>
            <a:r>
              <a:rPr lang="en-US" dirty="0"/>
              <a:t>Choosing the Right Batch Size, Memory Considerations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3006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757</Words>
  <Application>Microsoft Office PowerPoint</Application>
  <PresentationFormat>On-screen Show (4:3)</PresentationFormat>
  <Paragraphs>85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Lecture 1.2</vt:lpstr>
      <vt:lpstr>Closed-form Equation</vt:lpstr>
      <vt:lpstr>Gradient Descent</vt:lpstr>
      <vt:lpstr>PowerPoint Presentation</vt:lpstr>
      <vt:lpstr>Loss function</vt:lpstr>
      <vt:lpstr>Mathematical Formulation of Gradient Descent</vt:lpstr>
      <vt:lpstr>PowerPoint Presentation</vt:lpstr>
      <vt:lpstr>Numerical Problem</vt:lpstr>
      <vt:lpstr>PowerPoint Presentation</vt:lpstr>
      <vt:lpstr>Batch Gradient Descent</vt:lpstr>
      <vt:lpstr>Stochastic Gradient Descent</vt:lpstr>
      <vt:lpstr>Mini-Batch Gradient Descent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1.2</dc:title>
  <dc:creator>user</dc:creator>
  <cp:lastModifiedBy>user</cp:lastModifiedBy>
  <cp:revision>18</cp:revision>
  <dcterms:created xsi:type="dcterms:W3CDTF">2006-08-16T00:00:00Z</dcterms:created>
  <dcterms:modified xsi:type="dcterms:W3CDTF">2024-12-08T17:36:57Z</dcterms:modified>
</cp:coreProperties>
</file>